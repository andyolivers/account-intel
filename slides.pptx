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2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54"/>
  </p:normalViewPr>
  <p:slideViewPr>
    <p:cSldViewPr snapToGrid="0">
      <p:cViewPr varScale="1">
        <p:scale>
          <a:sx n="104" d="100"/>
          <a:sy n="104" d="100"/>
        </p:scale>
        <p:origin x="8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563532-06E1-DB43-B967-08D8C6A154AC}" type="datetimeFigureOut">
              <a:rPr lang="pt-PT" smtClean="0"/>
              <a:t>23/07/26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5B0789-14F6-744E-AA4A-34149DB1EDA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71948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5B0789-14F6-744E-AA4A-34149DB1EDAD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01902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7/23/26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c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7/23/26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7/23/26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7/23/26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7/23/26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7/23/26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7/23/26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7/23/26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03F774-2B14-CBB3-1515-96F738F460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dirty="0"/>
              <a:t>🎯</a:t>
            </a:r>
            <a:r>
              <a:rPr lang="en-US" sz="4800" dirty="0"/>
              <a:t> Account Intelligence	 Agent</a:t>
            </a:r>
            <a:endParaRPr lang="en-U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EE37806-3AFA-2FF1-7F7D-961E9C62B1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André Oliveira</a:t>
            </a:r>
          </a:p>
        </p:txBody>
      </p:sp>
    </p:spTree>
    <p:extLst>
      <p:ext uri="{BB962C8B-B14F-4D97-AF65-F5344CB8AC3E}">
        <p14:creationId xmlns:p14="http://schemas.microsoft.com/office/powerpoint/2010/main" val="513340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AB46A0-AF1C-292C-B39A-B5F8F3F89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2089FD9-6BDD-E242-B882-F5E1961C6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92000"/>
            <a:ext cx="9601200" cy="3581400"/>
          </a:xfrm>
        </p:spPr>
        <p:txBody>
          <a:bodyPr/>
          <a:lstStyle/>
          <a:p>
            <a:r>
              <a:rPr lang="en-US" dirty="0"/>
              <a:t>Account Executive's daily briefing tool. </a:t>
            </a:r>
          </a:p>
          <a:p>
            <a:r>
              <a:rPr lang="en-US" dirty="0"/>
              <a:t>It answers two questions: </a:t>
            </a:r>
          </a:p>
          <a:p>
            <a:pPr lvl="1"/>
            <a:r>
              <a:rPr lang="en-US" b="1" dirty="0"/>
              <a:t>Which accounts should I focus on today?</a:t>
            </a:r>
          </a:p>
          <a:p>
            <a:pPr lvl="1"/>
            <a:r>
              <a:rPr lang="en-US" b="1" dirty="0"/>
              <a:t>What should I know before my next meeting with them?</a:t>
            </a:r>
            <a:endParaRPr lang="en-US" dirty="0"/>
          </a:p>
          <a:p>
            <a:r>
              <a:rPr lang="en-US" dirty="0"/>
              <a:t>It surfaces the accounts that most need AE’s attention today, ranked by risk and growth signals, helping users prepare the next meeting with the customer.</a:t>
            </a:r>
          </a:p>
        </p:txBody>
      </p:sp>
      <p:pic>
        <p:nvPicPr>
          <p:cNvPr id="7" name="Imagem 6" descr="Uma imagem com texto, captura de ecrã, Tipo de letra, file&#10;&#10;Os conteúdos gerados por IA podem estar incorretos.">
            <a:extLst>
              <a:ext uri="{FF2B5EF4-FFF2-40B4-BE49-F238E27FC236}">
                <a16:creationId xmlns:a16="http://schemas.microsoft.com/office/drawing/2014/main" id="{EC474089-2791-7C86-A3B5-00EE5381E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7257" y="4234250"/>
            <a:ext cx="5460635" cy="229380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28070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01E124-55F2-20AF-7603-A870F8519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303CB8D-DC89-4302-D2F9-E666BD05A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92000"/>
            <a:ext cx="9601200" cy="5047994"/>
          </a:xfrm>
        </p:spPr>
        <p:txBody>
          <a:bodyPr>
            <a:normAutofit/>
          </a:bodyPr>
          <a:lstStyle/>
          <a:p>
            <a:r>
              <a:rPr lang="en-US" b="1" dirty="0"/>
              <a:t>Validation target: </a:t>
            </a:r>
            <a:r>
              <a:rPr lang="en-US" dirty="0"/>
              <a:t>Revenue was used only for validation, never as a score input.</a:t>
            </a:r>
          </a:p>
          <a:p>
            <a:r>
              <a:rPr lang="en-US" b="1" dirty="0"/>
              <a:t>Scoring model: </a:t>
            </a:r>
          </a:p>
          <a:p>
            <a:pPr lvl="1"/>
            <a:r>
              <a:rPr lang="en-US" b="1" i="0" dirty="0"/>
              <a:t>Risk: </a:t>
            </a:r>
            <a:r>
              <a:rPr lang="en-US" dirty="0" err="1"/>
              <a:t>days_since_last_sales_activity</a:t>
            </a:r>
            <a:r>
              <a:rPr lang="en-US" dirty="0"/>
              <a:t> + </a:t>
            </a:r>
            <a:r>
              <a:rPr lang="en-US" dirty="0" err="1"/>
              <a:t>nr_support_tickets</a:t>
            </a:r>
            <a:r>
              <a:rPr lang="en-US" dirty="0"/>
              <a:t> </a:t>
            </a:r>
            <a:r>
              <a:rPr lang="en-US" i="0" dirty="0"/>
              <a:t>(negative correlation)</a:t>
            </a:r>
          </a:p>
          <a:p>
            <a:pPr lvl="1"/>
            <a:r>
              <a:rPr lang="en-US" b="1" i="0" dirty="0"/>
              <a:t>Opportunity:</a:t>
            </a:r>
            <a:r>
              <a:rPr lang="en-US" dirty="0"/>
              <a:t> </a:t>
            </a:r>
            <a:r>
              <a:rPr lang="en-US" dirty="0" err="1"/>
              <a:t>ai_usage</a:t>
            </a:r>
            <a:r>
              <a:rPr lang="en-US" dirty="0"/>
              <a:t> + </a:t>
            </a:r>
            <a:r>
              <a:rPr lang="en-US" dirty="0" err="1"/>
              <a:t>seat_utilization</a:t>
            </a:r>
            <a:r>
              <a:rPr lang="en-US" dirty="0"/>
              <a:t> </a:t>
            </a:r>
            <a:r>
              <a:rPr lang="en-US" i="0" dirty="0"/>
              <a:t>(positive correlation)</a:t>
            </a:r>
          </a:p>
          <a:p>
            <a:pPr lvl="1"/>
            <a:r>
              <a:rPr lang="en-US" b="1" i="0" dirty="0"/>
              <a:t>Urgency:</a:t>
            </a:r>
            <a:r>
              <a:rPr lang="en-US" dirty="0"/>
              <a:t> Inverse of </a:t>
            </a:r>
            <a:r>
              <a:rPr lang="en-US" dirty="0" err="1"/>
              <a:t>days_to_next_renewal</a:t>
            </a:r>
            <a:endParaRPr lang="en-US" dirty="0"/>
          </a:p>
          <a:p>
            <a:r>
              <a:rPr lang="en-US" b="1" dirty="0"/>
              <a:t>Priority = Urgency × max(Risk, Opportunity)</a:t>
            </a:r>
            <a:r>
              <a:rPr lang="en-US" dirty="0"/>
              <a:t> to prioritize accounts with immediate business impact.</a:t>
            </a:r>
          </a:p>
          <a:p>
            <a:r>
              <a:rPr lang="en-US" b="1" dirty="0"/>
              <a:t>Methodology: </a:t>
            </a:r>
            <a:r>
              <a:rPr lang="en-US" dirty="0"/>
              <a:t>Used percentile ranks (instead of min-max scaling) for robustness to outliers and consistent normalization across features.</a:t>
            </a:r>
          </a:p>
          <a:p>
            <a:r>
              <a:rPr lang="en-US" b="1" dirty="0"/>
              <a:t>Validation: </a:t>
            </a:r>
            <a:r>
              <a:rPr lang="en-US" dirty="0"/>
              <a:t>Top 100 At Risk accounts averaged −36.3% revenue change, while top 100 Growth Opportunity accounts averaged +21.9%, compared with a dataset average of −1.4%, demonstrating strong alignment with real revenue outcomes.</a:t>
            </a:r>
          </a:p>
        </p:txBody>
      </p:sp>
    </p:spTree>
    <p:extLst>
      <p:ext uri="{BB962C8B-B14F-4D97-AF65-F5344CB8AC3E}">
        <p14:creationId xmlns:p14="http://schemas.microsoft.com/office/powerpoint/2010/main" val="503706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1A4671-AB9F-0F61-DA4B-5EB7558B0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F5B86DF3-E666-DD89-7BD1-308717035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91999"/>
            <a:ext cx="9601200" cy="4480201"/>
          </a:xfrm>
        </p:spPr>
        <p:txBody>
          <a:bodyPr>
            <a:normAutofit/>
          </a:bodyPr>
          <a:lstStyle/>
          <a:p>
            <a:r>
              <a:rPr lang="en-US" b="1" dirty="0"/>
              <a:t>Region parsing fix:</a:t>
            </a:r>
            <a:r>
              <a:rPr lang="en-US" dirty="0"/>
              <a:t> Prevented NA (North America) from being interpreted as missing values by configuring </a:t>
            </a:r>
            <a:r>
              <a:rPr lang="en-US" dirty="0" err="1"/>
              <a:t>read_csv</a:t>
            </a:r>
            <a:r>
              <a:rPr lang="en-US" dirty="0"/>
              <a:t> correctly.</a:t>
            </a:r>
          </a:p>
          <a:p>
            <a:r>
              <a:rPr lang="en-US" b="1" dirty="0"/>
              <a:t>Missing value handling:</a:t>
            </a:r>
            <a:r>
              <a:rPr lang="en-US" dirty="0"/>
              <a:t> Imputed (~2–3%) missing </a:t>
            </a:r>
            <a:r>
              <a:rPr lang="en-US" i="1" dirty="0" err="1"/>
              <a:t>ai_usage</a:t>
            </a:r>
            <a:r>
              <a:rPr lang="en-US" i="1" dirty="0"/>
              <a:t> </a:t>
            </a:r>
            <a:r>
              <a:rPr lang="en-US" dirty="0"/>
              <a:t>and </a:t>
            </a:r>
            <a:r>
              <a:rPr lang="en-US" i="1" dirty="0" err="1"/>
              <a:t>days_since_last_sales_activity</a:t>
            </a:r>
            <a:r>
              <a:rPr lang="en-US" dirty="0"/>
              <a:t> values instead of dropping accounts, using </a:t>
            </a:r>
            <a:r>
              <a:rPr lang="en-US" b="1" dirty="0"/>
              <a:t>industry-based</a:t>
            </a:r>
            <a:r>
              <a:rPr lang="en-US" dirty="0"/>
              <a:t> medians (higher explanatory power than segment or region).</a:t>
            </a:r>
          </a:p>
          <a:p>
            <a:r>
              <a:rPr lang="en-US" b="1" dirty="0"/>
              <a:t>Why not anomaly detection:</a:t>
            </a:r>
            <a:r>
              <a:rPr lang="en-US" dirty="0"/>
              <a:t> Rejected because the task is </a:t>
            </a:r>
            <a:r>
              <a:rPr lang="en-US" b="1" dirty="0"/>
              <a:t>prioritizing accounts</a:t>
            </a:r>
            <a:r>
              <a:rPr lang="en-US" dirty="0"/>
              <a:t>, not detecting statistical outliers. With only a single snapshot (no historical baseline), anomalies would often be irrelevant to AEs.</a:t>
            </a:r>
          </a:p>
          <a:p>
            <a:r>
              <a:rPr lang="en-US" b="1" dirty="0"/>
              <a:t>Prompt design:</a:t>
            </a:r>
            <a:r>
              <a:rPr lang="en-US" dirty="0"/>
              <a:t> Separated </a:t>
            </a:r>
            <a:r>
              <a:rPr lang="en-US" b="1" dirty="0"/>
              <a:t>system instructions</a:t>
            </a:r>
            <a:r>
              <a:rPr lang="en-US" dirty="0"/>
              <a:t> (persona, format, guardrails) from </a:t>
            </a:r>
            <a:r>
              <a:rPr lang="en-US" b="1" dirty="0"/>
              <a:t>account data</a:t>
            </a:r>
            <a:r>
              <a:rPr lang="en-US" dirty="0"/>
              <a:t>, instructed the model to treat free text as data only, and constrained outputs to concise meeting-prep sections with anti-hallucination safeguards.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533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F74873-EE2B-63B3-F3E1-0E8DA4A8B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Improvements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7EF8BFE-9FA8-FC15-C76F-3C7143A7C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92000"/>
            <a:ext cx="9601200" cy="4480200"/>
          </a:xfrm>
        </p:spPr>
        <p:txBody>
          <a:bodyPr/>
          <a:lstStyle/>
          <a:p>
            <a:r>
              <a:rPr lang="en-US" dirty="0"/>
              <a:t>Test alternative weightings inside risk/opportunity drivers (currently equal 0.5/0.5, chosen because the underlying correlations are similar in magnitude) against the revenue-delta holdout, rather than eyeballing the correlation table.</a:t>
            </a:r>
          </a:p>
          <a:p>
            <a:r>
              <a:rPr lang="en-US" dirty="0"/>
              <a:t>Add per-account history if it existed, to properly justify (or rule out) an anomaly-detection layer for catching an account breaking its </a:t>
            </a:r>
            <a:r>
              <a:rPr lang="en-US" i="1" dirty="0"/>
              <a:t>own</a:t>
            </a:r>
            <a:r>
              <a:rPr lang="en-US" dirty="0"/>
              <a:t> pattern, rather than comparing accounts to each other.</a:t>
            </a:r>
          </a:p>
          <a:p>
            <a:r>
              <a:rPr lang="en-US" dirty="0"/>
              <a:t>Cache/persist AI-generated briefs to disk instead of only in </a:t>
            </a:r>
            <a:r>
              <a:rPr lang="en-US" dirty="0" err="1"/>
              <a:t>Streamlit's</a:t>
            </a:r>
            <a:r>
              <a:rPr lang="en-US" dirty="0"/>
              <a:t> in-memory cache, so they survive a server restart.</a:t>
            </a:r>
          </a:p>
          <a:p>
            <a:r>
              <a:rPr lang="en-US" dirty="0"/>
              <a:t>Add a lightweight eval of the LLM's brief quality (e.g. a rubric check for "did it use the transcript when available") rather than trusting output quality by inspection alone.</a:t>
            </a:r>
          </a:p>
        </p:txBody>
      </p:sp>
    </p:spTree>
    <p:extLst>
      <p:ext uri="{BB962C8B-B14F-4D97-AF65-F5344CB8AC3E}">
        <p14:creationId xmlns:p14="http://schemas.microsoft.com/office/powerpoint/2010/main" val="850824898"/>
      </p:ext>
    </p:extLst>
  </p:cSld>
  <p:clrMapOvr>
    <a:masterClrMapping/>
  </p:clrMapOvr>
</p:sld>
</file>

<file path=ppt/theme/theme1.xml><?xml version="1.0" encoding="utf-8"?>
<a:theme xmlns:a="http://schemas.openxmlformats.org/drawingml/2006/main" name="Recorte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Recorte</Template>
  <TotalTime>56</TotalTime>
  <Words>481</Words>
  <Application>Microsoft Macintosh PowerPoint</Application>
  <PresentationFormat>Ecrã Panorâmico</PresentationFormat>
  <Paragraphs>28</Paragraphs>
  <Slides>5</Slides>
  <Notes>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5</vt:i4>
      </vt:variant>
    </vt:vector>
  </HeadingPairs>
  <TitlesOfParts>
    <vt:vector size="9" baseType="lpstr">
      <vt:lpstr>Aptos</vt:lpstr>
      <vt:lpstr>Arial</vt:lpstr>
      <vt:lpstr>Franklin Gothic Book</vt:lpstr>
      <vt:lpstr>Recorte</vt:lpstr>
      <vt:lpstr>🎯 Account Intelligence  Agent</vt:lpstr>
      <vt:lpstr>Overview</vt:lpstr>
      <vt:lpstr>Model</vt:lpstr>
      <vt:lpstr>Decisions</vt:lpstr>
      <vt:lpstr>Improvements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André Oliveira</dc:creator>
  <cp:lastModifiedBy>André Oliveira</cp:lastModifiedBy>
  <cp:revision>4</cp:revision>
  <dcterms:created xsi:type="dcterms:W3CDTF">2026-07-23T16:13:51Z</dcterms:created>
  <dcterms:modified xsi:type="dcterms:W3CDTF">2026-07-23T17:10:45Z</dcterms:modified>
</cp:coreProperties>
</file>